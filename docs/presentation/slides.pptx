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standard inverse problem formulation. Without a good prior, you get either oversmoothed or unrealistic results. The recent shift in the field is toward learned generative priors -- diffusion and flow matching -- as the prior of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official Kim 2025 code is latent-only on SD3. We could not compare against Pixel-DPS without reimplementing. This is the project's first novelty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proposal hypothesized FlowDPS would close the gap within 0.5-1.1 dB. We will see what actually happens. We covered three of four Bucket-3 stress tests when only one was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numbers, real measurements, single GPU. No fabrication. The source-of-truth CSV has 10,600+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Pixel-DPS is also faster per image at NFE=100 on this hardware, reversing the predicted speed advantage. The RF model's NCSN++ velocity forward pass is more expensive per step than the DDPM's epsilon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brand new — finished overnight. The ordering is robust across operator families. FlowDPS-RF degrades ~2x faster than Pixel-DPS with increasing L, consistent with the saturation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r=8 the measurement carries 1/64 the pixel count of the original. FlowDPS-RF drifts to a plausible-but-wrong face; Pixel-DPS's gradient correction keeps the trajectory anchored. The amplifying gap is consistent with the FlowDPS-RF saturation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FM-saturation diagnosis that becomes important for the Tier-A ablation later. The saturated late-step guidance is what the ramp-zeta schedule targets in flowdps_rf_v2.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publishable finding. The deterministic ODE flow seems to act as implicit regularization under operator misspecification. Practical implication: if you know your operator, use DPS. If you don't, consider flow-based posterior 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Pixel-DPS std maps are nearly black — the sampler is collapsing to one modal estimate. FlowDPS shows visible diversity in hair, skin, micro-features. This is the classical Bayesian critique made measurable.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a Bayesian inverse-problems perspective, FlowDPS produces a posterior; Pixel-DPS produces a MAP-like point estimate. The right method depends on what your downstream application cares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strict gate is what would separate this from typical ablation studies. Most papers report aggregate delta without per-cell correction. 8 candidates would pass a permissive criterion but fail our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workshop-pitchable finding. A brittle ablation would not produce a clean reversal. Confirmed on both samplers makes it algorithm-agnostic.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framing. Each diagnosis is a useful failure-mode report for future re-implementers. The L2-norm vs L2-squared bug is a particularly common pitfall.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3373B"/>
                </a:solidFill>
                <a:latin typeface="Calibri"/>
              </a:rPr>
              <a:t>Pixel-Space Posterior Sampling for Image Deblurring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50A0"/>
                </a:solidFill>
                <a:latin typeface="Calibri"/>
              </a:rPr>
              <a:t>A Controlled Comparison of DPS and FlowDPS on CelebA-HQ-256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Eeman Adnan  •  Muhammad Aslam Adnan  •  Mufaddal Hatim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Group 13  •  Department of Artificial Intelligence  •  LUMS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30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50A0"/>
                </a:solidFill>
                <a:latin typeface="Calibri"/>
              </a:rPr>
              <a:t>Image inverse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Recover a clean image x from a degraded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373B"/>
                </a:solidFill>
                <a:latin typeface="Calibri"/>
              </a:rPr>
              <a:t>y  =  A x  +  ε,    ε  ~  N(0, σₙ² 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where A is a known degradation operator (e.g., Gaussian blur).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The problem is ill-posed: many x produce the same 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A strong prior over natural images is essential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Modern approaches: learned generative priors (DDPMs, Flow Matching)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two paradigms we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50A0"/>
                </a:solidFill>
                <a:latin typeface="Calibri"/>
              </a:rPr>
              <a:t>Pixel-DPS (Chung 2023)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DDPM prior on CelebA-HQ-256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DDIM reverse process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Likelihood-gradient correction: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  x_{t-1} = x_{t-1}^DDIM - ζ ∇ ‖y - A(x̂₀)‖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50A0"/>
                </a:solidFill>
                <a:latin typeface="Calibri"/>
              </a:rPr>
              <a:t>FlowDPS-on-RF (Kim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Rectified Flow prior (Liu 2023)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Euler ODE integration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Guided velocity field: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  v_eff = v_θ - ζ ∇ ‖y - A(ẑ₁)‖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solidFill>
            <a:srgbClr val="FFF4E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0A0"/>
                </a:solidFill>
                <a:latin typeface="Calibri"/>
              </a:rPr>
              <a:t>Our novelty: pixel-space reimplementation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The official FlowDPS code is locked to Stable Diffusion 3 (latent, 768×768).
We reimplemented it on the Liu 2023 RF CelebA-HQ-256 checkpoint — enabling head-to-head
comparison at matched resolution +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1. Quality.  Can FlowDPS match DPS on PSNR / SSIM / LPIPS at matched NFE budgets?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2. Efficiency.  Is there an NFE regime where the deterministic flow trajectory wins on speed?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3. Robustness.  Which method degrades more gracefully under forward-model mismatch?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4. Baselines.  How do they compare to classical (Wiener) and supervised (DnCNN+PnP) baselines?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E6F0FA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0A0"/>
                </a:solidFill>
                <a:latin typeface="Calibri"/>
              </a:rPr>
              <a:t>Plus three Bucket-3 stress-test axes (only one required)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Operator mismatch (B1)  •  Posterior diversity vs point accuracy (B4)  •  Gradient-free vs gradient-based (B3)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Experimental scope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06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Grid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Reconstructions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Cells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Matched Gaussian (main)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1,800 / method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Matched motion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1,200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Matched super-resolution (new)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600 / method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Operator-mismatch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1,200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Classical baselines (Wiener, DnCNN+PnP)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600 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Posterior 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48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13 publication-improvement ablations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7,800+ 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&gt;10,600 measurements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All measurements on RTX 3060 12 GB, PyTorch 2.4.1, diffusers 0.30.1.
Every PSNR traces to a row in outputs/results/*.csv.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Headline result: matched Gaussian blur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σ_b, σ_n=0.05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Wiener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DnCNN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DDRM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FlowDPS-RF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Pixel-DPS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24.28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24.61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24.50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23.65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26.21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24.31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23.96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26.25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22.50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22.81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22.35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21.13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25.33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383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PSNR (dB), NFE=100, n=50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Pixel-DPS dominates by 1.4–4.2 dB in every cell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All comparisons Bonferroni-significant (p ≪ 10⁻¹⁰)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Cohen's d between 1.98 and 3.52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FFE6E6"/>
          </a:solidFill>
          <a:ln>
            <a:solidFill>
              <a:srgbClr val="A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2A2A"/>
                </a:solidFill>
                <a:latin typeface="Calibri"/>
              </a:rPr>
              <a:t>Contradicts the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Proposal hypothesized 0.5–1.1 dB gap; actual is 2–4× wider, in DPS's favor.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Matched motion deblurring (new)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0A0"/>
                </a:solidFill>
                <a:latin typeface="Calibri"/>
              </a:rPr>
              <a:t>Confirms the ordering on a second forward-operator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Same samplers, same scope, but A is now motion(L, θ) with L ∈ {15, 25, 35}, θ ∈ {0°, 45°}.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5943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257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Pixel-DPS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FlowDPS-RF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L=15, θ=0°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25.83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22.54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L=25, θ=45°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25.38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21.35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L=35, θ=45°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24.79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20.46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675120" y="1920240"/>
            <a:ext cx="5029200" cy="2103120"/>
          </a:xfrm>
          <a:prstGeom prst="rect">
            <a:avLst/>
          </a:prstGeom>
          <a:solidFill>
            <a:srgbClr val="E6FAE6"/>
          </a:solidFill>
          <a:ln>
            <a:solidFill>
              <a:srgbClr val="2A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7A2A"/>
                </a:solidFill>
                <a:latin typeface="Calibri"/>
              </a:rPr>
              <a:t>Even wider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Mean Δ = +3.95 dB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12 / 12 cells significant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Cohen's d 2.53 to 3.48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Wider than Gaussian gap (+3.24)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σ_n=0.05, NFE=100, n=50.   Directly addresses our 'single forward-operator family' limitation.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Matched super-resolution (new)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0A0"/>
                </a:solidFill>
                <a:latin typeface="Calibri"/>
              </a:rPr>
              <a:t>Third forward-operator family — and the gap amplifies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Same samplers; A is now bicubic downsampling by factor r ∈ {2, 4, 8}.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5943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257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Pixel-DPS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FlowDPS-RF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r=2, σ_n=0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29.03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23.88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r=4, σ_n=0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26.51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19.62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r=8, σ_n=0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24.13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14.86 (collapses)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675120" y="1920240"/>
            <a:ext cx="5029200" cy="2103120"/>
          </a:xfrm>
          <a:prstGeom prst="rect">
            <a:avLst/>
          </a:prstGeom>
          <a:solidFill>
            <a:srgbClr val="FFF4E0"/>
          </a:solidFill>
          <a:ln>
            <a:solidFill>
              <a:srgbClr val="A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02A2A"/>
                </a:solidFill>
                <a:latin typeface="Calibri"/>
              </a:rPr>
              <a:t>Gap grows with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r=2: +4.86 dB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r=4: +6.51 dB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r=8: +8.77 dB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Mean +6.71 dB, 6/6 sig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Three forward-operator families, ordering preserved:
Gaussian +3.24 dB → motion +3.95 dB → SR +6.71 dB.
Pixel-DPS's L2-gradient anchoring matters more as the measurement becomes more impoverished.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NFE efficiency: FlowDPS saturates, DPS keeps improving</a:t>
            </a:r>
          </a:p>
        </p:txBody>
      </p:sp>
      <p:pic>
        <p:nvPicPr>
          <p:cNvPr id="3" name="Picture 2" descr="psnr_vs_n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9887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0A0"/>
                </a:solidFill>
                <a:latin typeface="Calibri"/>
              </a:rPr>
              <a:t>Key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FlowDPS-on-RF saturates by NFE=25.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Through NFE=200, FlowDPS gains &lt;0.5 dB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Pixel-DPS keeps improving across the range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Pixel-DPS is also faster per image (17.9 vs 23.5 s/img at NFE=100)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Operator-mismatch robustness: the ordering reverses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097280"/>
          </a:xfrm>
          <a:prstGeom prst="rect">
            <a:avLst/>
          </a:prstGeom>
          <a:solidFill>
            <a:srgbClr val="F0F0FA"/>
          </a:solidFill>
          <a:ln>
            <a:solidFill>
              <a:srgbClr val="23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0A0"/>
                </a:solidFill>
                <a:latin typeface="Calibri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True A = motion blur. Sampler's assumed A = Gaussian.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715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Matched Gaussian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Severe motion mismatch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Pixel-DPS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26.25 dB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21.3 dB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−5.0 dB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FlowDPS-on-RF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22.58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20.1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−2.5 dB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Gap (DPS − FlowDPS)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+3.67 dB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+0.9 dB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narrows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63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Representative at σ_b=3.0 vs L=35, θ=0°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FFF4E0"/>
          </a:solidFill>
          <a:ln>
            <a:solidFill>
              <a:srgbClr val="A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02A2A"/>
                </a:solidFill>
                <a:latin typeface="Calibri"/>
              </a:rPr>
              <a:t>The opposite of what the proposal hypothesized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Matched-condition +3.67 dB advantage shrinks to +0.9 dB.
FlowDPS-on-RF is relatively more robust to operator mismatch.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Posterior diversity: PSNR is not the whole story</a:t>
            </a:r>
          </a:p>
        </p:txBody>
      </p:sp>
      <p:pic>
        <p:nvPicPr>
          <p:cNvPr id="3" name="Picture 2" descr="posterior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80635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3 images × 2 methods × 8 seeds. Held-fixed measurement.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PSNR vs posterior — in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09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Single-sample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Mean-of-N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Pairwise LPIPS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 map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Pixel-DPS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29.07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29.96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FlowDPS-on-RF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27.72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0.031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08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σ_b=3.0, σ_n=0.05, NFE=50, N=8 samples (avg over 3 images)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Pixel-DPS produces a near-deterministic point estimate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FlowDPS-on-RF has a 3.5× broader posterior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Pixel-DPS's PSNR advantage is partly a point-estimate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FFF4E0"/>
          </a:solidFill>
          <a:ln>
            <a:solidFill>
              <a:srgbClr val="A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02A2A"/>
                </a:solidFill>
                <a:latin typeface="Calibri"/>
              </a:rPr>
              <a:t>Kernel Inception Distance confirms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KID (×10⁻³, lower = closer to real face distribution):
Wiener 257.9  ≫  unconditional DDPM 21.5  &gt;  Pixel-DPS 18.0  &gt;  FlowDPS-RF 4.8
FlowDPS-RF wins distributional realism by 3.7× despite losing 3.7 dB on PSNR.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Beyond mandatory: 13 ablations under a strict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solidFill>
            <a:srgbClr val="F0F0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0A0"/>
                </a:solidFill>
                <a:latin typeface="Calibri"/>
              </a:rPr>
              <a:t>Strict Bonferroni-corrected promotion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 method WINS only if: (i) mean ΔPSNR vs v1 is positive, AND (ii) Bonferroni p&lt;0.05 in ≥ 4/6 cells.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(dB)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Sig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flowdps_rf_v2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+0.77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6/6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✓ WIN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pixel_dps_spectral 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✓ WIN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flowdps_rf_spectral matched (n=100)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+0.54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5/6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✓ WIN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 other 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various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0–3/6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fail / near-miss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flowdps_rf_v2: EMA-loading bug fix + power-law ζ ramp → +0.77 dB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Two spectral wins are the same algorithm on both samplers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paradoxical reversal: our most interesting finding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097280"/>
          </a:xfrm>
          <a:prstGeom prst="rect">
            <a:avLst/>
          </a:prstGeom>
          <a:solidFill>
            <a:srgbClr val="F0F0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0A0"/>
                </a:solidFill>
                <a:latin typeface="Calibri"/>
              </a:rPr>
              <a:t>Spectral-weight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W(f) = 1 / (1 + α · ReLU(ε − |H(f)|)).
Downweight residuals where the assumed operator's spectrum is noise-dominated.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4688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09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Pixel-DPS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FlowDPS-RF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Mismatched (motion meas, gauss assumed)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−0.18 dB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−0.20 dB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Matched (gauss meas, gauss assumed)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+0.46 dB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+0.54 dB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E6FAE6"/>
          </a:solidFill>
          <a:ln>
            <a:solidFill>
              <a:srgbClr val="2A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7A2A"/>
                </a:solidFill>
                <a:latin typeface="Calibri"/>
              </a:rPr>
              <a:t>Algorithm-agnostic mechanistic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Same algorithm, opposite verdicts on adjacent regimes, confirmed on both samplers.
The mechanism is correctly diagnosed: suppression of noise-dominated bands of the
assumed operator helps when assumed=truth and hurts under mismatch.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Eight failed ablations, each with a mechanistic diagnosis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Failure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Diagnosis</a:t>
                      </a:r>
                    </a:p>
                  </a:txBody>
                  <a:tcPr>
                    <a:solidFill>
                      <a:srgbClr val="233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pixel_dps_v2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−0.66 dB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v1 ζ=10 already near-optimal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*_pigdm heuristic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−13.6, −9.8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L2-norm vs L2-sq convention bug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pigdm_pure analytical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−3.4 dB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Lit: Π-GDM loses to L2-DPS on Gaussian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pixel_dps_sched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cell-split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Optimal ζ depends on σ_n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flowdps_rf_heun @ NFE=200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−0.17 dB vs v2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Guidance, not integrator, saturates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particle_dps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−14.8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Path degeneracy: P_eff &lt; 1.5 in 10 steps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particle_dps_tempered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≡ above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SMC without rejuvenation → SIS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F0F0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0A0"/>
                </a:solidFill>
                <a:latin typeface="Calibri"/>
              </a:rPr>
              <a:t>Negative-result yield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All 8 failures match documented failure modes in the literature — we are reproducing
known limitations, not encountering novel surprises. Each is preserved as code with the diagnosis.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Discussion: when to use which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50A0"/>
                </a:solidFill>
                <a:latin typeface="Calibri"/>
              </a:rPr>
              <a:t>Prefer Pixel-DPS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The forward operator is calibrated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Application wants a sharp point estimate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Modal PSNR is what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50A0"/>
                </a:solidFill>
                <a:latin typeface="Calibri"/>
              </a:rPr>
              <a:t>Prefer FlowDPS-on-RF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The operator may be misspecified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Downstream Bayesian inference is needed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Posterior diversity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373B"/>
                </a:solidFill>
                <a:latin typeface="Calibr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Single dataset (CelebA-HQ-256 faces); two operator families; DDRM did not reach competitive PSNR in time; P=8 particles for gradient-free SMC.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373B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Multi-dataset replication; learned ζ schedule; larger P with MCMC rejuvenation; super-resolution and inpainting operators.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Summary of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1. Pixel-space FlowDPS reimplementation on Liu 2023 RF (Kim 2025 is SD3-only)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2. First quantitative DPS vs FlowDPS comparison at matched resolution + prior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3. Operator-mismatch ordering reversal quantified (−5 vs −2.5 dB)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4. Posterior-diversity asymmetry quantified (LPIPS 0.05 vs 0.175, 3.5×)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5. Three confirmed wins under strict Bonferroni gate; paradoxical regime reversal on both samplers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6. Eight documented failures with mechanistic diagnoses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7. Strict-gate ablation methodology as a rigor improvement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8. Reproducible pipeline: 10,600+ measurement rows in 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E6F0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50A0"/>
                </a:solidFill>
                <a:latin typeface="Calibri"/>
              </a:rPr>
              <a:t>Open source: https://github.com/adnan821/dps_flowdps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23373B"/>
                </a:solidFill>
                <a:latin typeface="Calibr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50A0"/>
                </a:solidFill>
                <a:latin typeface="Calibri"/>
              </a:rPr>
              <a:t>Group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Calibri"/>
              </a:rPr>
              <a:t>Eeman Adnan  •  Muhammad Aslam Adnan  •  Mufaddal Hatim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https://github.com/adnan821/dps_flowdps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